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IBM Plex Sans"/>
      <p:regular r:id="rId12"/>
      <p:bold r:id="rId13"/>
      <p:italic r:id="rId14"/>
      <p:boldItalic r:id="rId15"/>
    </p:embeddedFont>
    <p:embeddedFont>
      <p:font typeface="Sora SemiBold"/>
      <p:regular r:id="rId16"/>
      <p:bold r:id="rId17"/>
    </p:embeddedFont>
    <p:embeddedFont>
      <p:font typeface="IBM Plex Sans Medium"/>
      <p:regular r:id="rId18"/>
      <p:bold r:id="rId19"/>
      <p:italic r:id="rId20"/>
      <p:boldItalic r:id="rId21"/>
    </p:embeddedFont>
    <p:embeddedFont>
      <p:font typeface="Sora Light"/>
      <p:regular r:id="rId22"/>
      <p:bold r:id="rId23"/>
    </p:embeddedFont>
    <p:embeddedFont>
      <p:font typeface="Sora ExtraLight"/>
      <p:regular r:id="rId24"/>
      <p:bold r:id="rId25"/>
    </p:embeddedFont>
    <p:embeddedFont>
      <p:font typeface="Sora"/>
      <p:regular r:id="rId26"/>
      <p:bold r:id="rId27"/>
    </p:embeddedFont>
    <p:embeddedFont>
      <p:font typeface="Sora Medium"/>
      <p:regular r:id="rId28"/>
      <p:bold r:id="rId29"/>
    </p:embeddedFont>
    <p:embeddedFont>
      <p:font typeface="IBM Plex Sans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SemiBold-bold.fntdata"/><Relationship Id="rId30" Type="http://schemas.openxmlformats.org/officeDocument/2006/relationships/font" Target="fonts/IBMPlexSansSemiBold-regular.fntdata"/><Relationship Id="rId33" Type="http://schemas.openxmlformats.org/officeDocument/2006/relationships/font" Target="fonts/IBMPlexSansSemiBold-boldItalic.fntdata"/><Relationship Id="rId32" Type="http://schemas.openxmlformats.org/officeDocument/2006/relationships/font" Target="fonts/IBMPlexSansSemiBold-italic.fntdata"/><Relationship Id="rId20" Type="http://schemas.openxmlformats.org/officeDocument/2006/relationships/font" Target="fonts/IBMPlexSansMedium-italic.fntdata"/><Relationship Id="rId22" Type="http://schemas.openxmlformats.org/officeDocument/2006/relationships/font" Target="fonts/SoraLight-regular.fntdata"/><Relationship Id="rId21" Type="http://schemas.openxmlformats.org/officeDocument/2006/relationships/font" Target="fonts/IBMPlexSansMedium-boldItalic.fntdata"/><Relationship Id="rId24" Type="http://schemas.openxmlformats.org/officeDocument/2006/relationships/font" Target="fonts/SoraExtraLight-regular.fntdata"/><Relationship Id="rId23" Type="http://schemas.openxmlformats.org/officeDocument/2006/relationships/font" Target="fonts/SoraLight-bold.fntdata"/><Relationship Id="rId26" Type="http://schemas.openxmlformats.org/officeDocument/2006/relationships/font" Target="fonts/Sora-regular.fntdata"/><Relationship Id="rId25" Type="http://schemas.openxmlformats.org/officeDocument/2006/relationships/font" Target="fonts/SoraExtraLight-bold.fntdata"/><Relationship Id="rId28" Type="http://schemas.openxmlformats.org/officeDocument/2006/relationships/font" Target="fonts/SoraMedium-regular.fntdata"/><Relationship Id="rId27" Type="http://schemas.openxmlformats.org/officeDocument/2006/relationships/font" Target="fonts/Sora-bold.fntdata"/><Relationship Id="rId29" Type="http://schemas.openxmlformats.org/officeDocument/2006/relationships/font" Target="fonts/SoraMedium-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BMPlexSans-bold.fntdata"/><Relationship Id="rId12" Type="http://schemas.openxmlformats.org/officeDocument/2006/relationships/font" Target="fonts/IBMPlexSans-regular.fntdata"/><Relationship Id="rId15" Type="http://schemas.openxmlformats.org/officeDocument/2006/relationships/font" Target="fonts/IBMPlexSans-boldItalic.fntdata"/><Relationship Id="rId14" Type="http://schemas.openxmlformats.org/officeDocument/2006/relationships/font" Target="fonts/IBMPlexSans-italic.fntdata"/><Relationship Id="rId17" Type="http://schemas.openxmlformats.org/officeDocument/2006/relationships/font" Target="fonts/SoraSemiBold-bold.fntdata"/><Relationship Id="rId16" Type="http://schemas.openxmlformats.org/officeDocument/2006/relationships/font" Target="fonts/SoraSemiBold-regular.fntdata"/><Relationship Id="rId19" Type="http://schemas.openxmlformats.org/officeDocument/2006/relationships/font" Target="fonts/IBMPlexSansMedium-bold.fntdata"/><Relationship Id="rId18" Type="http://schemas.openxmlformats.org/officeDocument/2006/relationships/font" Target="fonts/IBMPlex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9e552c73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9e552c73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9e552c730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9e552c730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Sora"/>
                <a:ea typeface="Sora"/>
                <a:cs typeface="Sora"/>
                <a:sym typeface="Sora"/>
              </a:rPr>
              <a:t>Determining feasibility of use of this lightweight cryptographic algorithm on very limited embedded platforms.</a:t>
            </a:r>
            <a:endParaRPr sz="1000">
              <a:solidFill>
                <a:schemeClr val="dk1"/>
              </a:solidFill>
              <a:latin typeface="Sora"/>
              <a:ea typeface="Sora"/>
              <a:cs typeface="Sora"/>
              <a:sym typeface="Sora"/>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9e552c7304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9e552c7304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9e552c730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9e552c7304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9e552c7304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9e552c7304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idx="2" type="subTitle"/>
          </p:nvPr>
        </p:nvSpPr>
        <p:spPr>
          <a:xfrm>
            <a:off x="138475" y="228600"/>
            <a:ext cx="2164500" cy="438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ECE 4301</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11/3/2025</a:t>
            </a:r>
            <a:endParaRPr>
              <a:latin typeface="Sora"/>
              <a:ea typeface="Sora"/>
              <a:cs typeface="Sora"/>
              <a:sym typeface="Sora"/>
            </a:endParaRPr>
          </a:p>
        </p:txBody>
      </p:sp>
      <p:sp>
        <p:nvSpPr>
          <p:cNvPr id="934" name="Google Shape;934;p63"/>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Project </a:t>
            </a:r>
            <a:r>
              <a:rPr lang="en">
                <a:solidFill>
                  <a:schemeClr val="dk2"/>
                </a:solidFill>
              </a:rPr>
              <a:t>kickoff</a:t>
            </a:r>
            <a:endParaRPr>
              <a:solidFill>
                <a:schemeClr val="dk2"/>
              </a:solidFill>
            </a:endParaRPr>
          </a:p>
          <a:p>
            <a:pPr indent="0" lvl="0" marL="0" rtl="0" algn="l">
              <a:spcBef>
                <a:spcPts val="0"/>
              </a:spcBef>
              <a:spcAft>
                <a:spcPts val="0"/>
              </a:spcAft>
              <a:buNone/>
            </a:pPr>
            <a:r>
              <a:rPr lang="en">
                <a:solidFill>
                  <a:schemeClr val="dk2"/>
                </a:solidFill>
              </a:rPr>
              <a:t>presentation</a:t>
            </a:r>
            <a:endParaRPr>
              <a:solidFill>
                <a:schemeClr val="dk2"/>
              </a:solidFill>
            </a:endParaRPr>
          </a:p>
        </p:txBody>
      </p:sp>
      <p:sp>
        <p:nvSpPr>
          <p:cNvPr id="935" name="Google Shape;935;p63"/>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Group C: Garima Bhattarai, Mia Diliberti-Brandenburg, Marcelo P. Masilungan, John Pollak, Kelly Williams</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64"/>
          <p:cNvSpPr txBox="1"/>
          <p:nvPr>
            <p:ph idx="1" type="subTitle"/>
          </p:nvPr>
        </p:nvSpPr>
        <p:spPr>
          <a:xfrm>
            <a:off x="2176499" y="319800"/>
            <a:ext cx="3904200" cy="52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Studying the lightweight cryptographic primitives of ASCON, which uses sponge construction modeling using different generations of Raspberry Pi.</a:t>
            </a:r>
            <a:endParaRPr/>
          </a:p>
        </p:txBody>
      </p:sp>
      <p:sp>
        <p:nvSpPr>
          <p:cNvPr id="941" name="Google Shape;941;p64"/>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Project Vision</a:t>
            </a:r>
            <a:endParaRPr/>
          </a:p>
        </p:txBody>
      </p:sp>
      <p:sp>
        <p:nvSpPr>
          <p:cNvPr id="942" name="Google Shape;942;p64"/>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Fall 2025</a:t>
            </a:r>
            <a:endParaRPr/>
          </a:p>
          <a:p>
            <a:pPr indent="0" lvl="0" marL="0" rtl="0" algn="l">
              <a:spcBef>
                <a:spcPts val="0"/>
              </a:spcBef>
              <a:spcAft>
                <a:spcPts val="0"/>
              </a:spcAft>
              <a:buNone/>
            </a:pPr>
            <a:r>
              <a:t/>
            </a:r>
            <a:endParaRPr/>
          </a:p>
        </p:txBody>
      </p:sp>
      <p:sp>
        <p:nvSpPr>
          <p:cNvPr id="943" name="Google Shape;943;p64"/>
          <p:cNvSpPr txBox="1"/>
          <p:nvPr>
            <p:ph idx="2" type="title"/>
          </p:nvPr>
        </p:nvSpPr>
        <p:spPr>
          <a:xfrm>
            <a:off x="6250500" y="2093399"/>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ARM1176JZF-S</a:t>
            </a:r>
            <a:endParaRPr/>
          </a:p>
        </p:txBody>
      </p:sp>
      <p:sp>
        <p:nvSpPr>
          <p:cNvPr id="944" name="Google Shape;944;p64"/>
          <p:cNvSpPr txBox="1"/>
          <p:nvPr>
            <p:ph idx="7" type="body"/>
          </p:nvPr>
        </p:nvSpPr>
        <p:spPr>
          <a:xfrm>
            <a:off x="62505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BCM2835</a:t>
            </a:r>
            <a:endParaRPr/>
          </a:p>
          <a:p>
            <a:pPr indent="0" lvl="0" marL="0" rtl="0" algn="l">
              <a:spcBef>
                <a:spcPts val="800"/>
              </a:spcBef>
              <a:spcAft>
                <a:spcPts val="0"/>
              </a:spcAft>
              <a:buNone/>
            </a:pPr>
            <a:r>
              <a:rPr lang="en"/>
              <a:t>700MHz</a:t>
            </a:r>
            <a:endParaRPr/>
          </a:p>
          <a:p>
            <a:pPr indent="0" lvl="0" marL="0" rtl="0" algn="l">
              <a:spcBef>
                <a:spcPts val="800"/>
              </a:spcBef>
              <a:spcAft>
                <a:spcPts val="0"/>
              </a:spcAft>
              <a:buNone/>
            </a:pPr>
            <a:r>
              <a:rPr lang="en"/>
              <a:t>Single-core 32-bit</a:t>
            </a:r>
            <a:endParaRPr/>
          </a:p>
          <a:p>
            <a:pPr indent="0" lvl="0" marL="0" rtl="0" algn="l">
              <a:spcBef>
                <a:spcPts val="800"/>
              </a:spcBef>
              <a:spcAft>
                <a:spcPts val="800"/>
              </a:spcAft>
              <a:buNone/>
            </a:pPr>
            <a:r>
              <a:rPr lang="en"/>
              <a:t>512MB LPDDR2 SDRAM</a:t>
            </a:r>
            <a:endParaRPr/>
          </a:p>
        </p:txBody>
      </p:sp>
      <p:sp>
        <p:nvSpPr>
          <p:cNvPr id="945" name="Google Shape;945;p64"/>
          <p:cNvSpPr txBox="1"/>
          <p:nvPr>
            <p:ph idx="14" type="title"/>
          </p:nvPr>
        </p:nvSpPr>
        <p:spPr>
          <a:xfrm>
            <a:off x="6250500" y="1534794"/>
            <a:ext cx="23694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Raspberry Pi Zero W</a:t>
            </a:r>
            <a:endParaRPr/>
          </a:p>
        </p:txBody>
      </p:sp>
      <p:sp>
        <p:nvSpPr>
          <p:cNvPr id="946" name="Google Shape;946;p64"/>
          <p:cNvSpPr txBox="1"/>
          <p:nvPr>
            <p:ph idx="2" type="title"/>
          </p:nvPr>
        </p:nvSpPr>
        <p:spPr>
          <a:xfrm>
            <a:off x="228600" y="2093399"/>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 Cortex A-76</a:t>
            </a:r>
            <a:endParaRPr/>
          </a:p>
        </p:txBody>
      </p:sp>
      <p:sp>
        <p:nvSpPr>
          <p:cNvPr id="947" name="Google Shape;947;p64"/>
          <p:cNvSpPr txBox="1"/>
          <p:nvPr>
            <p:ph idx="7" type="body"/>
          </p:nvPr>
        </p:nvSpPr>
        <p:spPr>
          <a:xfrm>
            <a:off x="2286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BCM2712</a:t>
            </a:r>
            <a:endParaRPr/>
          </a:p>
          <a:p>
            <a:pPr indent="0" lvl="0" marL="0" rtl="0" algn="l">
              <a:spcBef>
                <a:spcPts val="800"/>
              </a:spcBef>
              <a:spcAft>
                <a:spcPts val="0"/>
              </a:spcAft>
              <a:buNone/>
            </a:pPr>
            <a:r>
              <a:rPr lang="en"/>
              <a:t>2.4GHz</a:t>
            </a:r>
            <a:endParaRPr/>
          </a:p>
          <a:p>
            <a:pPr indent="0" lvl="0" marL="0" rtl="0" algn="l">
              <a:spcBef>
                <a:spcPts val="800"/>
              </a:spcBef>
              <a:spcAft>
                <a:spcPts val="0"/>
              </a:spcAft>
              <a:buNone/>
            </a:pPr>
            <a:r>
              <a:rPr lang="en"/>
              <a:t>Quad-core 64-bit</a:t>
            </a:r>
            <a:endParaRPr/>
          </a:p>
          <a:p>
            <a:pPr indent="0" lvl="0" marL="0" rtl="0" algn="l">
              <a:spcBef>
                <a:spcPts val="800"/>
              </a:spcBef>
              <a:spcAft>
                <a:spcPts val="800"/>
              </a:spcAft>
              <a:buNone/>
            </a:pPr>
            <a:r>
              <a:rPr lang="en"/>
              <a:t>Up to 16 GB LPDDR4 SDRAM</a:t>
            </a:r>
            <a:endParaRPr/>
          </a:p>
        </p:txBody>
      </p:sp>
      <p:sp>
        <p:nvSpPr>
          <p:cNvPr id="948" name="Google Shape;948;p64"/>
          <p:cNvSpPr txBox="1"/>
          <p:nvPr>
            <p:ph idx="14" type="title"/>
          </p:nvPr>
        </p:nvSpPr>
        <p:spPr>
          <a:xfrm>
            <a:off x="228600" y="1534805"/>
            <a:ext cx="1939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Raspberry Pi 5</a:t>
            </a:r>
            <a:endParaRPr/>
          </a:p>
        </p:txBody>
      </p:sp>
      <p:sp>
        <p:nvSpPr>
          <p:cNvPr id="949" name="Google Shape;949;p64"/>
          <p:cNvSpPr txBox="1"/>
          <p:nvPr>
            <p:ph idx="2" type="title"/>
          </p:nvPr>
        </p:nvSpPr>
        <p:spPr>
          <a:xfrm>
            <a:off x="2235900" y="2093398"/>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 Cortex A-72</a:t>
            </a:r>
            <a:endParaRPr/>
          </a:p>
        </p:txBody>
      </p:sp>
      <p:sp>
        <p:nvSpPr>
          <p:cNvPr id="950" name="Google Shape;950;p64"/>
          <p:cNvSpPr txBox="1"/>
          <p:nvPr>
            <p:ph idx="7" type="body"/>
          </p:nvPr>
        </p:nvSpPr>
        <p:spPr>
          <a:xfrm>
            <a:off x="22359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BCM2711</a:t>
            </a:r>
            <a:endParaRPr/>
          </a:p>
          <a:p>
            <a:pPr indent="0" lvl="0" marL="0" rtl="0" algn="l">
              <a:spcBef>
                <a:spcPts val="800"/>
              </a:spcBef>
              <a:spcAft>
                <a:spcPts val="0"/>
              </a:spcAft>
              <a:buNone/>
            </a:pPr>
            <a:r>
              <a:rPr lang="en"/>
              <a:t>1.5GHz</a:t>
            </a:r>
            <a:endParaRPr/>
          </a:p>
          <a:p>
            <a:pPr indent="0" lvl="0" marL="0" rtl="0" algn="l">
              <a:spcBef>
                <a:spcPts val="800"/>
              </a:spcBef>
              <a:spcAft>
                <a:spcPts val="0"/>
              </a:spcAft>
              <a:buNone/>
            </a:pPr>
            <a:r>
              <a:rPr lang="en"/>
              <a:t>Quad-core 64-bit</a:t>
            </a:r>
            <a:endParaRPr/>
          </a:p>
          <a:p>
            <a:pPr indent="0" lvl="0" marL="0" rtl="0" algn="l">
              <a:spcBef>
                <a:spcPts val="800"/>
              </a:spcBef>
              <a:spcAft>
                <a:spcPts val="800"/>
              </a:spcAft>
              <a:buNone/>
            </a:pPr>
            <a:r>
              <a:rPr lang="en"/>
              <a:t>Up to 8GB LPDDR4 SDRAM</a:t>
            </a:r>
            <a:endParaRPr/>
          </a:p>
        </p:txBody>
      </p:sp>
      <p:sp>
        <p:nvSpPr>
          <p:cNvPr id="951" name="Google Shape;951;p64"/>
          <p:cNvSpPr txBox="1"/>
          <p:nvPr>
            <p:ph idx="14" type="title"/>
          </p:nvPr>
        </p:nvSpPr>
        <p:spPr>
          <a:xfrm>
            <a:off x="2235900" y="1534805"/>
            <a:ext cx="1939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a:t>Raspberry Pi 4b</a:t>
            </a:r>
            <a:endParaRPr/>
          </a:p>
        </p:txBody>
      </p:sp>
      <p:sp>
        <p:nvSpPr>
          <p:cNvPr id="952" name="Google Shape;952;p64"/>
          <p:cNvSpPr txBox="1"/>
          <p:nvPr>
            <p:ph idx="2" type="title"/>
          </p:nvPr>
        </p:nvSpPr>
        <p:spPr>
          <a:xfrm>
            <a:off x="4243200" y="2093399"/>
            <a:ext cx="1939200" cy="28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ARM Cortex A-53</a:t>
            </a:r>
            <a:endParaRPr/>
          </a:p>
        </p:txBody>
      </p:sp>
      <p:sp>
        <p:nvSpPr>
          <p:cNvPr id="953" name="Google Shape;953;p64"/>
          <p:cNvSpPr txBox="1"/>
          <p:nvPr>
            <p:ph idx="7" type="body"/>
          </p:nvPr>
        </p:nvSpPr>
        <p:spPr>
          <a:xfrm>
            <a:off x="4243200" y="2382292"/>
            <a:ext cx="1939200" cy="1905600"/>
          </a:xfrm>
          <a:prstGeom prst="rect">
            <a:avLst/>
          </a:prstGeom>
        </p:spPr>
        <p:txBody>
          <a:bodyPr anchorCtr="0" anchor="t" bIns="91425" lIns="91425" spcFirstLastPara="1" rIns="0" wrap="square" tIns="91425">
            <a:normAutofit/>
          </a:bodyPr>
          <a:lstStyle/>
          <a:p>
            <a:pPr indent="0" lvl="0" marL="0" rtl="0" algn="l">
              <a:spcBef>
                <a:spcPts val="0"/>
              </a:spcBef>
              <a:spcAft>
                <a:spcPts val="0"/>
              </a:spcAft>
              <a:buNone/>
            </a:pPr>
            <a:r>
              <a:rPr lang="en"/>
              <a:t>Processor: BCM2837B0</a:t>
            </a:r>
            <a:endParaRPr/>
          </a:p>
          <a:p>
            <a:pPr indent="0" lvl="0" marL="0" rtl="0" algn="l">
              <a:spcBef>
                <a:spcPts val="800"/>
              </a:spcBef>
              <a:spcAft>
                <a:spcPts val="0"/>
              </a:spcAft>
              <a:buNone/>
            </a:pPr>
            <a:r>
              <a:rPr lang="en"/>
              <a:t>1.4GHz</a:t>
            </a:r>
            <a:endParaRPr/>
          </a:p>
          <a:p>
            <a:pPr indent="0" lvl="0" marL="0" rtl="0" algn="l">
              <a:spcBef>
                <a:spcPts val="800"/>
              </a:spcBef>
              <a:spcAft>
                <a:spcPts val="0"/>
              </a:spcAft>
              <a:buNone/>
            </a:pPr>
            <a:r>
              <a:rPr lang="en"/>
              <a:t>Quad-core 64-bit</a:t>
            </a:r>
            <a:endParaRPr/>
          </a:p>
          <a:p>
            <a:pPr indent="0" lvl="0" marL="0" rtl="0" algn="l">
              <a:spcBef>
                <a:spcPts val="800"/>
              </a:spcBef>
              <a:spcAft>
                <a:spcPts val="800"/>
              </a:spcAft>
              <a:buNone/>
            </a:pPr>
            <a:r>
              <a:rPr lang="en"/>
              <a:t>1GB LPDDR2 SDRAM</a:t>
            </a:r>
            <a:endParaRPr/>
          </a:p>
        </p:txBody>
      </p:sp>
      <p:sp>
        <p:nvSpPr>
          <p:cNvPr id="954" name="Google Shape;954;p64"/>
          <p:cNvSpPr txBox="1"/>
          <p:nvPr>
            <p:ph idx="14" type="title"/>
          </p:nvPr>
        </p:nvSpPr>
        <p:spPr>
          <a:xfrm>
            <a:off x="4243200" y="1534805"/>
            <a:ext cx="1939200" cy="482400"/>
          </a:xfrm>
          <a:prstGeom prst="rect">
            <a:avLst/>
          </a:prstGeom>
        </p:spPr>
        <p:txBody>
          <a:bodyPr anchorCtr="0" anchor="t" bIns="91425" lIns="91425" spcFirstLastPara="1" rIns="137150" wrap="square" tIns="91425">
            <a:noAutofit/>
          </a:bodyPr>
          <a:lstStyle/>
          <a:p>
            <a:pPr indent="0" lvl="0" marL="0" rtl="0" algn="ctr">
              <a:spcBef>
                <a:spcPts val="0"/>
              </a:spcBef>
              <a:spcAft>
                <a:spcPts val="0"/>
              </a:spcAft>
              <a:buNone/>
            </a:pPr>
            <a:r>
              <a:rPr lang="en" sz="1700"/>
              <a:t>Raspberry Pi 3b+</a:t>
            </a:r>
            <a:endParaRPr sz="1700"/>
          </a:p>
        </p:txBody>
      </p:sp>
      <p:sp>
        <p:nvSpPr>
          <p:cNvPr id="955" name="Google Shape;955;p64"/>
          <p:cNvSpPr txBox="1"/>
          <p:nvPr>
            <p:ph idx="1" type="subTitle"/>
          </p:nvPr>
        </p:nvSpPr>
        <p:spPr>
          <a:xfrm>
            <a:off x="1579500" y="4072650"/>
            <a:ext cx="6362100" cy="52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 will use the tools from the NIST LWC Standardization Project that were previously used for benchmarking microcontrollers, and may supplement or replace with other tools if they are seen as more appropriate. </a:t>
            </a:r>
            <a:endParaRPr/>
          </a:p>
          <a:p>
            <a:pPr indent="0" lvl="0" marL="0" rtl="0" algn="l">
              <a:spcBef>
                <a:spcPts val="0"/>
              </a:spcBef>
              <a:spcAft>
                <a:spcPts val="0"/>
              </a:spcAft>
              <a:buNone/>
            </a:pPr>
            <a:r>
              <a:rPr lang="en"/>
              <a:t>(</a:t>
            </a:r>
            <a:r>
              <a:rPr lang="en"/>
              <a:t>https://github.com/usnistgov/Lightweight-Cryptography-Benchmarking)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Excel will be used for data analysis and visualization where the included Python scripts are not applicable.</a:t>
            </a:r>
            <a:endParaRPr/>
          </a:p>
        </p:txBody>
      </p:sp>
      <p:sp>
        <p:nvSpPr>
          <p:cNvPr id="956" name="Google Shape;956;p64"/>
          <p:cNvSpPr txBox="1"/>
          <p:nvPr>
            <p:ph idx="17" type="title"/>
          </p:nvPr>
        </p:nvSpPr>
        <p:spPr>
          <a:xfrm>
            <a:off x="763325" y="4072650"/>
            <a:ext cx="1827900" cy="5202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Tools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65"/>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Objectives</a:t>
            </a:r>
            <a:endParaRPr/>
          </a:p>
        </p:txBody>
      </p:sp>
      <p:sp>
        <p:nvSpPr>
          <p:cNvPr id="962" name="Google Shape;962;p65"/>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2: Collect Data</a:t>
            </a:r>
            <a:endParaRPr/>
          </a:p>
        </p:txBody>
      </p:sp>
      <p:sp>
        <p:nvSpPr>
          <p:cNvPr id="963" name="Google Shape;963;p65"/>
          <p:cNvSpPr txBox="1"/>
          <p:nvPr>
            <p:ph idx="4" type="title"/>
          </p:nvPr>
        </p:nvSpPr>
        <p:spPr>
          <a:xfrm>
            <a:off x="38100" y="319650"/>
            <a:ext cx="3116700" cy="431100"/>
          </a:xfrm>
          <a:prstGeom prst="rect">
            <a:avLst/>
          </a:prstGeom>
        </p:spPr>
        <p:txBody>
          <a:bodyPr anchorCtr="0" anchor="t" bIns="91425" lIns="182875" spcFirstLastPara="1" rIns="91425" wrap="square" tIns="91425">
            <a:spAutoFit/>
          </a:bodyPr>
          <a:lstStyle/>
          <a:p>
            <a:pPr indent="0" lvl="0" marL="0" rtl="0" algn="l">
              <a:spcBef>
                <a:spcPts val="0"/>
              </a:spcBef>
              <a:spcAft>
                <a:spcPts val="0"/>
              </a:spcAft>
              <a:buNone/>
            </a:pPr>
            <a:r>
              <a:rPr lang="en"/>
              <a:t>Project roadmap</a:t>
            </a:r>
            <a:endParaRPr/>
          </a:p>
        </p:txBody>
      </p:sp>
      <p:sp>
        <p:nvSpPr>
          <p:cNvPr id="964" name="Google Shape;964;p65"/>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1: Research</a:t>
            </a:r>
            <a:endParaRPr/>
          </a:p>
        </p:txBody>
      </p:sp>
      <p:sp>
        <p:nvSpPr>
          <p:cNvPr id="965" name="Google Shape;965;p65"/>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Phase 3: Interpret Results</a:t>
            </a:r>
            <a:endParaRPr/>
          </a:p>
        </p:txBody>
      </p:sp>
      <p:sp>
        <p:nvSpPr>
          <p:cNvPr id="966" name="Google Shape;966;p65"/>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Activities</a:t>
            </a:r>
            <a:endParaRPr/>
          </a:p>
        </p:txBody>
      </p:sp>
      <p:sp>
        <p:nvSpPr>
          <p:cNvPr id="967" name="Google Shape;967;p65"/>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Deliverables</a:t>
            </a:r>
            <a:endParaRPr/>
          </a:p>
        </p:txBody>
      </p:sp>
      <p:sp>
        <p:nvSpPr>
          <p:cNvPr id="968" name="Google Shape;968;p65"/>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Use NIST benchmark tools to benchmark on our available platforms.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Collect detailed data and demos.</a:t>
            </a:r>
            <a:endParaRPr>
              <a:solidFill>
                <a:schemeClr val="dk2"/>
              </a:solidFill>
            </a:endParaRPr>
          </a:p>
        </p:txBody>
      </p:sp>
      <p:sp>
        <p:nvSpPr>
          <p:cNvPr id="969" name="Google Shape;969;p65"/>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Research the Ascon algorithm and NIST benchmarking.</a:t>
            </a:r>
            <a:r>
              <a:rPr lang="en">
                <a:solidFill>
                  <a:schemeClr val="dk2"/>
                </a:solidFill>
              </a:rPr>
              <a:t> </a:t>
            </a:r>
            <a:r>
              <a:rPr lang="en">
                <a:solidFill>
                  <a:schemeClr val="dk2"/>
                </a:solidFill>
              </a:rPr>
              <a:t>Understand the differences between different Pi platforms.</a:t>
            </a:r>
            <a:r>
              <a:rPr lang="en">
                <a:solidFill>
                  <a:schemeClr val="dk2"/>
                </a:solidFill>
              </a:rPr>
              <a:t> </a:t>
            </a:r>
            <a:r>
              <a:rPr lang="en">
                <a:solidFill>
                  <a:schemeClr val="dk2"/>
                </a:solidFill>
              </a:rPr>
              <a:t>Consider any additional tests or feasible platform test additions.</a:t>
            </a:r>
            <a:endParaRPr>
              <a:solidFill>
                <a:schemeClr val="dk2"/>
              </a:solidFill>
            </a:endParaRPr>
          </a:p>
        </p:txBody>
      </p:sp>
      <p:sp>
        <p:nvSpPr>
          <p:cNvPr id="970" name="Google Shape;970;p65"/>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Perform benchmarking. Collect enough data to do meaningful processing later.</a:t>
            </a:r>
            <a:endParaRPr>
              <a:solidFill>
                <a:schemeClr val="dk2"/>
              </a:solidFill>
            </a:endParaRPr>
          </a:p>
        </p:txBody>
      </p:sp>
      <p:sp>
        <p:nvSpPr>
          <p:cNvPr id="971" name="Google Shape;971;p65"/>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Process results and report findings.</a:t>
            </a:r>
            <a:endParaRPr>
              <a:solidFill>
                <a:schemeClr val="dk2"/>
              </a:solidFill>
            </a:endParaRPr>
          </a:p>
        </p:txBody>
      </p:sp>
      <p:sp>
        <p:nvSpPr>
          <p:cNvPr id="972" name="Google Shape;972;p65"/>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p>
            <a:pPr indent="-120650" lvl="0" marL="114300" rtl="0" algn="l">
              <a:lnSpc>
                <a:spcPct val="100000"/>
              </a:lnSpc>
              <a:spcBef>
                <a:spcPts val="0"/>
              </a:spcBef>
              <a:spcAft>
                <a:spcPts val="0"/>
              </a:spcAft>
              <a:buClr>
                <a:schemeClr val="accent3"/>
              </a:buClr>
              <a:buSzPts val="1000"/>
              <a:buChar char="➔"/>
            </a:pPr>
            <a:r>
              <a:rPr lang="en">
                <a:solidFill>
                  <a:schemeClr val="dk2"/>
                </a:solidFill>
              </a:rPr>
              <a:t>Videos and screenshots of experimental procedure</a:t>
            </a:r>
            <a:endParaRPr>
              <a:solidFill>
                <a:schemeClr val="dk2"/>
              </a:solidFill>
            </a:endParaRPr>
          </a:p>
          <a:p>
            <a:pPr indent="-120650" lvl="0" marL="114300" rtl="0" algn="l">
              <a:lnSpc>
                <a:spcPct val="100000"/>
              </a:lnSpc>
              <a:spcBef>
                <a:spcPts val="0"/>
              </a:spcBef>
              <a:spcAft>
                <a:spcPts val="0"/>
              </a:spcAft>
              <a:buClr>
                <a:schemeClr val="accent3"/>
              </a:buClr>
              <a:buSzPts val="1000"/>
              <a:buChar char="➔"/>
            </a:pPr>
            <a:r>
              <a:rPr lang="en">
                <a:solidFill>
                  <a:schemeClr val="dk2"/>
                </a:solidFill>
              </a:rPr>
              <a:t>Raw CSV files with results</a:t>
            </a:r>
            <a:endParaRPr>
              <a:solidFill>
                <a:schemeClr val="dk2"/>
              </a:solidFill>
            </a:endParaRPr>
          </a:p>
        </p:txBody>
      </p:sp>
      <p:sp>
        <p:nvSpPr>
          <p:cNvPr id="973" name="Google Shape;973;p65"/>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Final report with analysis of results and Ascon architecture</a:t>
            </a:r>
            <a:endParaRPr>
              <a:solidFill>
                <a:schemeClr val="dk2"/>
              </a:solidFill>
            </a:endParaRPr>
          </a:p>
          <a:p>
            <a:pPr indent="-120650" lvl="0" marL="114300" rtl="0" algn="l">
              <a:spcBef>
                <a:spcPts val="0"/>
              </a:spcBef>
              <a:spcAft>
                <a:spcPts val="0"/>
              </a:spcAft>
              <a:buClr>
                <a:schemeClr val="dk2"/>
              </a:buClr>
              <a:buSzPts val="1000"/>
              <a:buChar char="➔"/>
            </a:pPr>
            <a:r>
              <a:rPr lang="en">
                <a:solidFill>
                  <a:schemeClr val="dk2"/>
                </a:solidFill>
              </a:rPr>
              <a:t>Graphs and plots from data</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Github repo with raw data, demos, report</a:t>
            </a:r>
            <a:endParaRPr>
              <a:solidFill>
                <a:schemeClr val="dk2"/>
              </a:solidFill>
            </a:endParaRPr>
          </a:p>
        </p:txBody>
      </p:sp>
      <p:sp>
        <p:nvSpPr>
          <p:cNvPr id="974" name="Google Shape;974;p65"/>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lnSpcReduction="20000"/>
          </a:bodyPr>
          <a:lstStyle/>
          <a:p>
            <a:pPr indent="-120650" lvl="0" marL="114300" rtl="0" algn="l">
              <a:spcBef>
                <a:spcPts val="0"/>
              </a:spcBef>
              <a:spcAft>
                <a:spcPts val="0"/>
              </a:spcAft>
              <a:buClr>
                <a:schemeClr val="accent3"/>
              </a:buClr>
              <a:buSzPts val="1000"/>
              <a:buChar char="➔"/>
            </a:pPr>
            <a:r>
              <a:rPr lang="en">
                <a:solidFill>
                  <a:schemeClr val="dk2"/>
                </a:solidFill>
              </a:rPr>
              <a:t>Find and understand papers on Ascon and review literature from other benchmarks/reports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Be specific and add as many as you need</a:t>
            </a:r>
            <a:endParaRPr>
              <a:solidFill>
                <a:schemeClr val="dk2"/>
              </a:solidFill>
            </a:endParaRPr>
          </a:p>
        </p:txBody>
      </p:sp>
      <p:sp>
        <p:nvSpPr>
          <p:cNvPr id="975" name="Google Shape;975;p65"/>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Analyze what our results mean and feasibility of using Ascon in place of existing algorithms.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Organize all results in a readable and interesting way.</a:t>
            </a:r>
            <a:endParaRPr>
              <a:solidFill>
                <a:schemeClr val="dk2"/>
              </a:solidFill>
            </a:endParaRPr>
          </a:p>
        </p:txBody>
      </p:sp>
      <p:sp>
        <p:nvSpPr>
          <p:cNvPr id="976" name="Google Shape;976;p65"/>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Report drafted section: understanding/evaluating Ascon</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Goals for benchmark data (what equations to use, etc.)</a:t>
            </a:r>
            <a:endParaRPr>
              <a:solidFill>
                <a:schemeClr val="dk2"/>
              </a:solidFill>
            </a:endParaRPr>
          </a:p>
        </p:txBody>
      </p:sp>
      <p:sp>
        <p:nvSpPr>
          <p:cNvPr id="977" name="Google Shape;977;p65"/>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a:t>
            </a:r>
            <a:r>
              <a:rPr lang="en"/>
              <a:t>all 2025</a:t>
            </a:r>
            <a:endParaRPr/>
          </a:p>
        </p:txBody>
      </p:sp>
      <p:cxnSp>
        <p:nvCxnSpPr>
          <p:cNvPr id="978" name="Google Shape;978;p65"/>
          <p:cNvCxnSpPr/>
          <p:nvPr/>
        </p:nvCxnSpPr>
        <p:spPr>
          <a:xfrm>
            <a:off x="1409275" y="1385175"/>
            <a:ext cx="7734900" cy="0"/>
          </a:xfrm>
          <a:prstGeom prst="straightConnector1">
            <a:avLst/>
          </a:prstGeom>
          <a:noFill/>
          <a:ln cap="flat" cmpd="sng" w="19050">
            <a:solidFill>
              <a:schemeClr val="accent5"/>
            </a:solidFill>
            <a:prstDash val="solid"/>
            <a:round/>
            <a:headEnd len="med" w="med" type="none"/>
            <a:tailEnd len="med" w="med" type="none"/>
          </a:ln>
        </p:spPr>
      </p:cxnSp>
      <p:sp>
        <p:nvSpPr>
          <p:cNvPr id="979" name="Google Shape;979;p65"/>
          <p:cNvSpPr txBox="1"/>
          <p:nvPr/>
        </p:nvSpPr>
        <p:spPr>
          <a:xfrm>
            <a:off x="3122250" y="4466175"/>
            <a:ext cx="7173300" cy="6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2"/>
                </a:solidFill>
                <a:latin typeface="Sora"/>
                <a:ea typeface="Sora"/>
                <a:cs typeface="Sora"/>
                <a:sym typeface="Sora"/>
              </a:rPr>
              <a:t>All roles will be shared based on need, but certain members will lead:</a:t>
            </a:r>
            <a:endParaRPr sz="1000">
              <a:solidFill>
                <a:schemeClr val="lt2"/>
              </a:solidFill>
              <a:latin typeface="Sora"/>
              <a:ea typeface="Sora"/>
              <a:cs typeface="Sora"/>
              <a:sym typeface="Sora"/>
            </a:endParaRPr>
          </a:p>
          <a:p>
            <a:pPr indent="457200" lvl="0" marL="457200" rtl="0" algn="l">
              <a:spcBef>
                <a:spcPts val="0"/>
              </a:spcBef>
              <a:spcAft>
                <a:spcPts val="0"/>
              </a:spcAft>
              <a:buNone/>
            </a:pPr>
            <a:r>
              <a:rPr lang="en" sz="1000">
                <a:solidFill>
                  <a:schemeClr val="lt2"/>
                </a:solidFill>
                <a:latin typeface="Sora"/>
                <a:ea typeface="Sora"/>
                <a:cs typeface="Sora"/>
                <a:sym typeface="Sora"/>
              </a:rPr>
              <a:t>Research: Mia				</a:t>
            </a:r>
            <a:r>
              <a:rPr lang="en" sz="1000">
                <a:solidFill>
                  <a:schemeClr val="lt2"/>
                </a:solidFill>
                <a:latin typeface="Sora"/>
                <a:ea typeface="Sora"/>
                <a:cs typeface="Sora"/>
                <a:sym typeface="Sora"/>
              </a:rPr>
              <a:t>Benchmarking/Data: Kelly</a:t>
            </a:r>
            <a:endParaRPr sz="1000">
              <a:solidFill>
                <a:schemeClr val="lt2"/>
              </a:solidFill>
              <a:latin typeface="Sora"/>
              <a:ea typeface="Sora"/>
              <a:cs typeface="Sora"/>
              <a:sym typeface="Sora"/>
            </a:endParaRPr>
          </a:p>
          <a:p>
            <a:pPr indent="457200" lvl="0" marL="457200" rtl="0" algn="l">
              <a:spcBef>
                <a:spcPts val="0"/>
              </a:spcBef>
              <a:spcAft>
                <a:spcPts val="0"/>
              </a:spcAft>
              <a:buNone/>
            </a:pPr>
            <a:r>
              <a:rPr lang="en" sz="1000">
                <a:solidFill>
                  <a:schemeClr val="lt2"/>
                </a:solidFill>
                <a:latin typeface="Sora"/>
                <a:ea typeface="Sora"/>
                <a:cs typeface="Sora"/>
                <a:sym typeface="Sora"/>
              </a:rPr>
              <a:t>Demo: John				Documentation: Marcelo and Garima</a:t>
            </a:r>
            <a:endParaRPr sz="1000">
              <a:solidFill>
                <a:schemeClr val="lt2"/>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6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 questions? </a:t>
            </a:r>
            <a:endParaRPr/>
          </a:p>
          <a:p>
            <a:pPr indent="0" lvl="0" marL="0" rtl="0" algn="l">
              <a:spcBef>
                <a:spcPts val="0"/>
              </a:spcBef>
              <a:spcAft>
                <a:spcPts val="0"/>
              </a:spcAft>
              <a:buNone/>
            </a:pPr>
            <a:r>
              <a:rPr lang="en"/>
              <a:t>Ask away!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67"/>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