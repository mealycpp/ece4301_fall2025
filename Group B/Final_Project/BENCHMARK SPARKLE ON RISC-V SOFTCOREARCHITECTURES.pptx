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A5DFA-8F5D-19AB-DC23-7D19D37F8C58}" v="5" dt="2025-12-08T19:53:34.3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mael Taleo" userId="S::italeo@cpp.edu::aaf8d3af-8053-4e9b-bcf9-d0ea37cde313" providerId="AD" clId="Web-{511A5DFA-8F5D-19AB-DC23-7D19D37F8C58}"/>
    <pc:docChg chg="modSld">
      <pc:chgData name="Ishmael Taleo" userId="S::italeo@cpp.edu::aaf8d3af-8053-4e9b-bcf9-d0ea37cde313" providerId="AD" clId="Web-{511A5DFA-8F5D-19AB-DC23-7D19D37F8C58}" dt="2025-12-08T19:53:34.371" v="3" actId="20577"/>
      <pc:docMkLst>
        <pc:docMk/>
      </pc:docMkLst>
      <pc:sldChg chg="modSp">
        <pc:chgData name="Ishmael Taleo" userId="S::italeo@cpp.edu::aaf8d3af-8053-4e9b-bcf9-d0ea37cde313" providerId="AD" clId="Web-{511A5DFA-8F5D-19AB-DC23-7D19D37F8C58}" dt="2025-12-08T19:37:25.946" v="1" actId="20577"/>
        <pc:sldMkLst>
          <pc:docMk/>
          <pc:sldMk cId="2586058810" sldId="256"/>
        </pc:sldMkLst>
        <pc:spChg chg="mod">
          <ac:chgData name="Ishmael Taleo" userId="S::italeo@cpp.edu::aaf8d3af-8053-4e9b-bcf9-d0ea37cde313" providerId="AD" clId="Web-{511A5DFA-8F5D-19AB-DC23-7D19D37F8C58}" dt="2025-12-08T19:37:25.946" v="1" actId="20577"/>
          <ac:spMkLst>
            <pc:docMk/>
            <pc:sldMk cId="2586058810" sldId="256"/>
            <ac:spMk id="2" creationId="{CFE75451-6A4B-484B-9ED1-353CCE25B0F4}"/>
          </ac:spMkLst>
        </pc:spChg>
      </pc:sldChg>
      <pc:sldChg chg="modSp">
        <pc:chgData name="Ishmael Taleo" userId="S::italeo@cpp.edu::aaf8d3af-8053-4e9b-bcf9-d0ea37cde313" providerId="AD" clId="Web-{511A5DFA-8F5D-19AB-DC23-7D19D37F8C58}" dt="2025-12-08T19:53:34.371" v="3" actId="20577"/>
        <pc:sldMkLst>
          <pc:docMk/>
          <pc:sldMk cId="770834162" sldId="260"/>
        </pc:sldMkLst>
        <pc:spChg chg="mod">
          <ac:chgData name="Ishmael Taleo" userId="S::italeo@cpp.edu::aaf8d3af-8053-4e9b-bcf9-d0ea37cde313" providerId="AD" clId="Web-{511A5DFA-8F5D-19AB-DC23-7D19D37F8C58}" dt="2025-12-08T19:53:34.371" v="3" actId="20577"/>
          <ac:spMkLst>
            <pc:docMk/>
            <pc:sldMk cId="770834162" sldId="260"/>
            <ac:spMk id="3" creationId="{6C6D8BEE-8A0E-2DB6-929A-C95BB9FFE5B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50D80-735D-C002-1C53-527536413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C309F-9446-7B31-4FCF-031C5B972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55FC7-3C41-69BE-4199-9D3654BBF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D2467-BD9C-27D8-6F57-EB3F3435E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57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8B44-8F0E-8743-410C-2611EAFB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29BE1-AB53-16A1-FFB0-45C3BE0FE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938D2-3EF3-0D42-6052-E2CF88582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5F2C2-6EF5-7827-D649-8227FD3D7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29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AAE5-3CF2-5D6D-9003-BEDE33008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6E9B3-0A42-CBF1-FA65-23C88B493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45175-436F-DFB5-3F77-481B6FF87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74512-3B29-CC06-5C8E-E8C8F4F45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54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F508-52AD-15A5-CA8D-7F266828C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DA543-551C-3264-C7FE-DB846BCD7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E65A1-4B25-583C-37FF-24865CE4A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05A4B-CBD3-F215-D7F4-5543D61B9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61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97340-5D7E-513C-E60A-06A4CABDB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21A1A-87E9-92A3-55F0-022B5E595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53572-A380-DBF2-4F63-496822644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23A30-EE54-1CB9-AF67-CDC466C29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23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F461F-74C3-5139-2807-2E9C61806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45C31-5835-10F1-FC7C-2AD0DE344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BE449-5D4D-A496-F3D2-6649A99C7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FECF1-1F2E-79C9-668B-A461239AC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94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81B18-37B6-F63D-0E8C-8F708D39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3D625-E140-4131-4CDE-726F52DA8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C8580-19C1-A66A-8B19-A59625529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9CD36-90BC-2BA0-3C00-D013C26B0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648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66D8C-2EAF-2B67-0DB9-898F80538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7D993-D8DF-6AD6-F413-62BA7456C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F191F-4E13-95DE-3AD1-7110D533F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E7763-5584-CD12-33BD-DF713BE95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80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CD08D-C594-04FB-9204-839F4E57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6618D3-4B95-0970-088F-55F85E510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4CC61-301B-B6EA-08B3-CE2BA8CEE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8A218-BFB8-698A-9842-916DD0F08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06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2D95-C230-7040-C30E-9938E5DCA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3A2D1-0030-6E7D-F199-B573AC983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C9BCD-BEB6-EE6B-94F3-C8165B5E9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D59BC-CE33-547F-30CA-4BCED3F12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80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7914-52A8-A651-6C2B-7E7069D8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A0E11-3325-EAB4-4720-E68D96231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4E232-6D7C-36B9-4884-775F75E27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2736A-D3E1-4043-B2B0-3ED3BA853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61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E8B7-127A-F2C8-1093-FBAF2875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A1552-813F-A55B-F841-6DCCBB8E2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EAB03-29DE-E5E4-8B00-27213D659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55E3-F7E0-B5DE-0DCB-90DFC9F12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76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/>
              <a:t>BENCHMARK SPARKLE ON RISC-V SOFTCORE</a:t>
            </a:r>
            <a:br>
              <a:rPr lang="en-US"/>
            </a:br>
            <a:r>
              <a:rPr lang="en-US"/>
              <a:t>ARCHITECTURES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r>
              <a:rPr lang="en-US"/>
              <a:t>Documentation</a:t>
            </a:r>
          </a:p>
          <a:p>
            <a:r>
              <a:rPr lang="en-US"/>
              <a:t>Performance Data</a:t>
            </a:r>
          </a:p>
          <a:p>
            <a:r>
              <a:rPr lang="en-US"/>
              <a:t>Code</a:t>
            </a:r>
          </a:p>
          <a:p>
            <a:r>
              <a:rPr lang="en-US"/>
              <a:t>Demo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20E6-6135-F8A8-C442-1F6FCF2DC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23D9-4779-605D-33CB-6DB5E2FEE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/>
              <a:t>WHAT IS SPARKLE?​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F5566-5877-F4E3-3449-7576ADCC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fontAlgn="base"/>
            <a:r>
              <a:rPr lang="en-US" b="0"/>
              <a:t>Permutation functions used in crypto algorithms​</a:t>
            </a:r>
          </a:p>
          <a:p>
            <a:pPr fontAlgn="base"/>
            <a:r>
              <a:rPr lang="en-US" b="0"/>
              <a:t>Performs Additon-Rotation-XOR (ARX)​</a:t>
            </a:r>
          </a:p>
          <a:p>
            <a:pPr fontAlgn="base"/>
            <a:r>
              <a:rPr lang="en-US" b="0"/>
              <a:t>Basis for 2 standardized constructions:​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0"/>
              <a:t>SCHWAEM (AEAD encryption)​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0"/>
              <a:t>ESCH (Hash function)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3D51C60-8ACA-3AEA-ACD0-0C03DAFFF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15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7C4AB-EF63-C45C-D839-39DF3105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F31B-CC4F-1181-4166-761AD18CA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/>
              <a:t>EXAMPLE OF AEAD + SPARKLE​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7245AF-5DA2-DBF1-C3A8-C9E3FBE3D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1026" name="Picture 2" descr="A diagram of a state&#10;&#10;AI-generated content may be incorrect.">
            <a:extLst>
              <a:ext uri="{FF2B5EF4-FFF2-40B4-BE49-F238E27FC236}">
                <a16:creationId xmlns:a16="http://schemas.microsoft.com/office/drawing/2014/main" id="{DD1A900D-1218-36FC-7F7E-EE0EE8230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7275" y="0"/>
            <a:ext cx="35147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diagram of a computer scheme&#10;&#10;AI-generated content may be incorrect.">
            <a:extLst>
              <a:ext uri="{FF2B5EF4-FFF2-40B4-BE49-F238E27FC236}">
                <a16:creationId xmlns:a16="http://schemas.microsoft.com/office/drawing/2014/main" id="{1636C4FB-A0A5-96A8-8A71-9A7B104A1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2689859"/>
            <a:ext cx="7306399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492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27B5C-B009-2CA8-567D-960D12185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D818A-E8C5-C0A2-B2BB-7A8B4C1E4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/>
              <a:t>WHY SPARKLE?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D8BEE-8A0E-2DB6-929A-C95BB9FFE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fontAlgn="base"/>
            <a:r>
              <a:rPr lang="en-US" b="0"/>
              <a:t>Lightweight &amp; Efficient:​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0"/>
              <a:t>Small code size​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0"/>
              <a:t>Low RAM usage​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0"/>
              <a:t>Fast in microcontrollers​</a:t>
            </a:r>
          </a:p>
          <a:p>
            <a:pPr fontAlgn="base"/>
            <a:endParaRPr lang="en-US" b="0"/>
          </a:p>
          <a:p>
            <a:pPr fontAlgn="base"/>
            <a:r>
              <a:rPr lang="en-US" b="0"/>
              <a:t>ARX design (No S-boxes)​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0"/>
              <a:t>Addition modulo 2ⁿ​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0"/>
              <a:t>Rotation​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0"/>
              <a:t>XOR</a:t>
            </a:r>
          </a:p>
          <a:p>
            <a:pPr fontAlgn="base"/>
            <a:r>
              <a:rPr lang="en-US" b="0"/>
              <a:t>It is ideal for embedded and IoT devices needing AEAD (SCHWAEM) or hashing (ESCH).​</a:t>
            </a:r>
          </a:p>
          <a:p>
            <a:pPr fontAlgn="base"/>
            <a:r>
              <a:rPr lang="en-US" b="0"/>
              <a:t>Wanted to implement on FPGA​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AC08497-7905-7C9C-FF64-AF685789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34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D7D3D-5332-16BD-F3D7-B1D2227C8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0110-FF53-3ED9-97D0-72E076EB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/>
              <a:t>SPARKLE CORE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77F046-27E5-86F4-3477-262F1C15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2050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C48EC2B-837C-D761-4DF0-8DFFE86700C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18" y="2487111"/>
            <a:ext cx="5115217" cy="340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EBA2CD-2CDC-B6EB-DC25-2DB5DF5F6D4E}"/>
              </a:ext>
            </a:extLst>
          </p:cNvPr>
          <p:cNvSpPr txBox="1"/>
          <p:nvPr/>
        </p:nvSpPr>
        <p:spPr>
          <a:xfrm>
            <a:off x="6748560" y="3821166"/>
            <a:ext cx="610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>
                <a:effectLst/>
                <a:latin typeface="Calibri Light" panose="020F0302020204030204" pitchFamily="34" charset="0"/>
              </a:rPr>
              <a:t>Shows ARX mixing function X 4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295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A80E-CED2-5FC3-81EB-F0581B7D9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C0B9E-573C-9D70-3933-33D8A6B18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/>
              <a:t>RISC-V SOFTCORE ARCHITECTURES​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91C45D-DB5F-F2F6-0406-E789148B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0D33A-4B83-4BDB-A817-55D088281E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b="0"/>
              <a:t>Initial goals for softcore Architectures:​</a:t>
            </a:r>
          </a:p>
          <a:p>
            <a:pPr marL="342900" indent="-342900">
              <a:buFont typeface="+mj-lt"/>
              <a:buAutoNum type="arabicPeriod"/>
            </a:pPr>
            <a:r>
              <a:rPr lang="en-IN" b="0"/>
              <a:t>PicoRV32​</a:t>
            </a:r>
          </a:p>
          <a:p>
            <a:pPr marL="342900" indent="-342900">
              <a:buFont typeface="+mj-lt"/>
              <a:buAutoNum type="arabicPeriod"/>
            </a:pPr>
            <a:r>
              <a:rPr lang="en-IN" b="0"/>
              <a:t>VEX​</a:t>
            </a:r>
          </a:p>
          <a:p>
            <a:pPr marL="342900" indent="-342900">
              <a:buFont typeface="+mj-lt"/>
              <a:buAutoNum type="arabicPeriod"/>
            </a:pPr>
            <a:r>
              <a:rPr lang="en-IN" b="0"/>
              <a:t>NeoRV32​</a:t>
            </a:r>
          </a:p>
          <a:p>
            <a:r>
              <a:rPr lang="en-IN" b="0"/>
              <a:t>Final Implementations on:​</a:t>
            </a:r>
          </a:p>
          <a:p>
            <a:pPr marL="342900" indent="-342900">
              <a:buFont typeface="+mj-lt"/>
              <a:buAutoNum type="arabicPeriod"/>
            </a:pPr>
            <a:r>
              <a:rPr lang="en-IN" b="0"/>
              <a:t>PicoRV32​</a:t>
            </a:r>
          </a:p>
          <a:p>
            <a:pPr marL="342900" indent="-342900">
              <a:buFont typeface="+mj-lt"/>
              <a:buAutoNum type="arabicPeriod"/>
            </a:pPr>
            <a:r>
              <a:rPr lang="en-IN" b="0"/>
              <a:t>Vex</a:t>
            </a:r>
          </a:p>
        </p:txBody>
      </p:sp>
    </p:spTree>
    <p:extLst>
      <p:ext uri="{BB962C8B-B14F-4D97-AF65-F5344CB8AC3E}">
        <p14:creationId xmlns:p14="http://schemas.microsoft.com/office/powerpoint/2010/main" val="1910693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FB6B6-15F6-7E79-2D02-88A5783A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4C43-4EA2-1471-D840-2018B53F2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/>
              <a:t>WHY THESE ARCHITECTURES?​	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615712-0D10-A927-0101-DED6B0398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9346FFD2-9E78-BA69-25BD-038EA7830BC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43702434"/>
              </p:ext>
            </p:extLst>
          </p:nvPr>
        </p:nvGraphicFramePr>
        <p:xfrm>
          <a:off x="1322318" y="2436497"/>
          <a:ext cx="6715320" cy="4085567"/>
        </p:xfrm>
        <a:graphic>
          <a:graphicData uri="http://schemas.openxmlformats.org/drawingml/2006/table">
            <a:tbl>
              <a:tblPr/>
              <a:tblGrid>
                <a:gridCol w="1678830">
                  <a:extLst>
                    <a:ext uri="{9D8B030D-6E8A-4147-A177-3AD203B41FA5}">
                      <a16:colId xmlns:a16="http://schemas.microsoft.com/office/drawing/2014/main" val="4044263903"/>
                    </a:ext>
                  </a:extLst>
                </a:gridCol>
                <a:gridCol w="1678830">
                  <a:extLst>
                    <a:ext uri="{9D8B030D-6E8A-4147-A177-3AD203B41FA5}">
                      <a16:colId xmlns:a16="http://schemas.microsoft.com/office/drawing/2014/main" val="3871291682"/>
                    </a:ext>
                  </a:extLst>
                </a:gridCol>
                <a:gridCol w="1678830">
                  <a:extLst>
                    <a:ext uri="{9D8B030D-6E8A-4147-A177-3AD203B41FA5}">
                      <a16:colId xmlns:a16="http://schemas.microsoft.com/office/drawing/2014/main" val="446036128"/>
                    </a:ext>
                  </a:extLst>
                </a:gridCol>
                <a:gridCol w="1678830">
                  <a:extLst>
                    <a:ext uri="{9D8B030D-6E8A-4147-A177-3AD203B41FA5}">
                      <a16:colId xmlns:a16="http://schemas.microsoft.com/office/drawing/2014/main" val="2878275547"/>
                    </a:ext>
                  </a:extLst>
                </a:gridCol>
              </a:tblGrid>
              <a:tr h="2112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Features​</a:t>
                      </a:r>
                      <a:endParaRPr lang="en-US" sz="14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9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PicoRV32​</a:t>
                      </a:r>
                      <a:endParaRPr lang="en-US" sz="14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9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VexRiscv​</a:t>
                      </a:r>
                      <a:endParaRPr lang="en-US" sz="14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9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NeoRV32​</a:t>
                      </a:r>
                      <a:endParaRPr lang="en-US" sz="14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39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942729"/>
                  </a:ext>
                </a:extLst>
              </a:tr>
              <a:tr h="78027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</a:rPr>
                        <a:t>Defining Features</a:t>
                      </a: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9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Smallest, simplest core​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9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performance + configurable​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9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Educational MCU core​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391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424816"/>
                  </a:ext>
                </a:extLst>
              </a:tr>
              <a:tr h="40094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Pipeline​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pipeline​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(1-5 stage)​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2-3 Stage​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168023"/>
                  </a:ext>
                </a:extLst>
              </a:tr>
              <a:tr h="59060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FPGA Size​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Tiny 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Scale from small -&gt; large​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Medium​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41050"/>
                  </a:ext>
                </a:extLst>
              </a:tr>
              <a:tr h="2112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Speed​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fast​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Good​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989908"/>
                  </a:ext>
                </a:extLst>
              </a:tr>
              <a:tr h="40094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 Instruction​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Easiest​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flexible​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Supported​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065716"/>
                  </a:ext>
                </a:extLst>
              </a:tr>
              <a:tr h="40094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Documentation​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Simple​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Good​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Excellent​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895400"/>
                  </a:ext>
                </a:extLst>
              </a:tr>
              <a:tr h="78027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 Case​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Small SoCs, accelerators​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Linux SoC, research, customization​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20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Teaching, MCU application​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053" marR="56053" marT="28026" marB="28026">
                    <a:lnL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981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99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0C3A3-8519-9AA8-6EC0-7F14B9E6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B6CD-5EA9-0BEF-D614-163A3046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566790"/>
          </a:xfrm>
        </p:spPr>
        <p:txBody>
          <a:bodyPr anchor="b">
            <a:normAutofit/>
          </a:bodyPr>
          <a:lstStyle/>
          <a:p>
            <a:r>
              <a:rPr lang="en-US"/>
              <a:t>Results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7C80F4-4F9D-1155-6591-62C4632E8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54597B42-F335-8E63-A0C1-70A7CBDA99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322317" y="2065340"/>
            <a:ext cx="3857749" cy="401637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70FD549-64B8-9269-C4AF-769B95992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65340"/>
            <a:ext cx="3559035" cy="401637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7D07DB0-94EF-CB24-F99E-49103002D49C}"/>
              </a:ext>
            </a:extLst>
          </p:cNvPr>
          <p:cNvSpPr txBox="1"/>
          <p:nvPr/>
        </p:nvSpPr>
        <p:spPr>
          <a:xfrm>
            <a:off x="1322317" y="6248400"/>
            <a:ext cx="385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Sparkle – PicoRV32 (C)</a:t>
            </a:r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83BC26-F63A-D4DF-D998-6678BCC0D49C}"/>
              </a:ext>
            </a:extLst>
          </p:cNvPr>
          <p:cNvSpPr txBox="1"/>
          <p:nvPr/>
        </p:nvSpPr>
        <p:spPr>
          <a:xfrm>
            <a:off x="6096000" y="6248400"/>
            <a:ext cx="385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Sparkle – PicoRV32 (Rust)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765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8CDA8-6C56-83A8-F880-5DC3EE18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D2634-1EAB-48D3-50D8-6B7D06849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566790"/>
          </a:xfrm>
        </p:spPr>
        <p:txBody>
          <a:bodyPr anchor="b">
            <a:normAutofit/>
          </a:bodyPr>
          <a:lstStyle/>
          <a:p>
            <a:r>
              <a:rPr lang="en-US"/>
              <a:t>Results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B25CF3-86E7-42BE-F46E-887246192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C1D67BF5-F86E-BBE9-DBFF-1B5293EB9A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1322317" y="2065340"/>
            <a:ext cx="3857749" cy="401637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C5B61E-891F-D291-25A6-674927A793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33120" y="2065340"/>
            <a:ext cx="3484795" cy="401637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28C3337-60A6-7ADE-878F-F5D3F4C41276}"/>
              </a:ext>
            </a:extLst>
          </p:cNvPr>
          <p:cNvSpPr txBox="1"/>
          <p:nvPr/>
        </p:nvSpPr>
        <p:spPr>
          <a:xfrm>
            <a:off x="1322317" y="6248400"/>
            <a:ext cx="385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Sparkle – VexRiscV (C)</a:t>
            </a:r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BD4AB7-633F-FF4C-3B5A-98FB25B0560C}"/>
              </a:ext>
            </a:extLst>
          </p:cNvPr>
          <p:cNvSpPr txBox="1"/>
          <p:nvPr/>
        </p:nvSpPr>
        <p:spPr>
          <a:xfrm>
            <a:off x="6096000" y="6248400"/>
            <a:ext cx="385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Sparkle – VexRiscV (Rust)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418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97E44-4B5D-4B52-032D-E3524F643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A685B-81B5-4341-3062-D5F4EFB97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566790"/>
          </a:xfrm>
        </p:spPr>
        <p:txBody>
          <a:bodyPr anchor="b">
            <a:normAutofit/>
          </a:bodyPr>
          <a:lstStyle/>
          <a:p>
            <a:r>
              <a:rPr lang="en-US"/>
              <a:t>BENCHMARK RESULTS​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B57EE92-7890-6207-2BE0-D6A8EB946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1169A1F-8B7F-F97C-1952-DD8D0DBCA49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19680193"/>
              </p:ext>
            </p:extLst>
          </p:nvPr>
        </p:nvGraphicFramePr>
        <p:xfrm>
          <a:off x="1322388" y="2763838"/>
          <a:ext cx="7288212" cy="2123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14702">
                  <a:extLst>
                    <a:ext uri="{9D8B030D-6E8A-4147-A177-3AD203B41FA5}">
                      <a16:colId xmlns:a16="http://schemas.microsoft.com/office/drawing/2014/main" val="419686388"/>
                    </a:ext>
                  </a:extLst>
                </a:gridCol>
                <a:gridCol w="1214702">
                  <a:extLst>
                    <a:ext uri="{9D8B030D-6E8A-4147-A177-3AD203B41FA5}">
                      <a16:colId xmlns:a16="http://schemas.microsoft.com/office/drawing/2014/main" val="2641739890"/>
                    </a:ext>
                  </a:extLst>
                </a:gridCol>
                <a:gridCol w="1214702">
                  <a:extLst>
                    <a:ext uri="{9D8B030D-6E8A-4147-A177-3AD203B41FA5}">
                      <a16:colId xmlns:a16="http://schemas.microsoft.com/office/drawing/2014/main" val="2940109977"/>
                    </a:ext>
                  </a:extLst>
                </a:gridCol>
                <a:gridCol w="1214702">
                  <a:extLst>
                    <a:ext uri="{9D8B030D-6E8A-4147-A177-3AD203B41FA5}">
                      <a16:colId xmlns:a16="http://schemas.microsoft.com/office/drawing/2014/main" val="3834082371"/>
                    </a:ext>
                  </a:extLst>
                </a:gridCol>
                <a:gridCol w="1214702">
                  <a:extLst>
                    <a:ext uri="{9D8B030D-6E8A-4147-A177-3AD203B41FA5}">
                      <a16:colId xmlns:a16="http://schemas.microsoft.com/office/drawing/2014/main" val="3475583973"/>
                    </a:ext>
                  </a:extLst>
                </a:gridCol>
                <a:gridCol w="1214702">
                  <a:extLst>
                    <a:ext uri="{9D8B030D-6E8A-4147-A177-3AD203B41FA5}">
                      <a16:colId xmlns:a16="http://schemas.microsoft.com/office/drawing/2014/main" val="3022006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Core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Language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ENC Cycles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DEC Cycles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ENC Instructs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DEC Instructs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21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PicoRV32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52,105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50,958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9,267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9,273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153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PicoRV32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Rust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99,224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100,182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16,488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16,637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308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VexRiscV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10,834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10,764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9,267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9,273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73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VexRiscV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Rust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24,765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24,998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16,515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tx1"/>
                          </a:solidFill>
                        </a:rPr>
                        <a:t>16,664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698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373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C7BEA-2AC8-8A55-7C94-054D82F1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496D8-3C4E-B02B-B6E0-B5A95B0B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268" y="2368411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/>
              <a:t>Demo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B5A6309-ADFA-19E8-A04B-30C7B357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50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AFC0D-F1D1-2E2E-EF25-01C5B4FC1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0354-EAC1-569D-1B81-0139EEC6F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/>
              <a:t>Problems encountered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59C63C-0831-B510-2FF7-7E3379E9E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A47F6-ED52-824D-2917-4402906AC5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0"/>
              <a:t>Cross Compilation took a very long time to set up for Rust</a:t>
            </a:r>
          </a:p>
          <a:p>
            <a:pPr marL="342900" indent="-342900">
              <a:buFont typeface="+mj-lt"/>
              <a:buAutoNum type="arabicPeriod"/>
            </a:pPr>
            <a:r>
              <a:rPr lang="en-IN" b="0"/>
              <a:t>Figuring out the implementation of softcores on FPGA was complex</a:t>
            </a:r>
          </a:p>
        </p:txBody>
      </p:sp>
    </p:spTree>
    <p:extLst>
      <p:ext uri="{BB962C8B-B14F-4D97-AF65-F5344CB8AC3E}">
        <p14:creationId xmlns:p14="http://schemas.microsoft.com/office/powerpoint/2010/main" val="826100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9A652-F86E-7DF6-66A2-D5C5F841E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EF808-D3E9-A042-1C42-B2449624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354640-97C1-B5DF-34B1-1B5BA1699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2510-9BBD-C286-7C9A-11731E40BA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0"/>
              <a:t>Schwaemm128 is efficiently implementable on RISC-V soft-cores, even minimal ones like PicoRV32. 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/>
              <a:t>VexRiscv delivers significantly better performance, running    ~4–5× faster due to pipelining and architectural optimizations.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/>
              <a:t>Rust introduces roughly double the instruction count and runtime, consistent with both compiler overhead and code generation choices.  </a:t>
            </a:r>
          </a:p>
        </p:txBody>
      </p:sp>
    </p:spTree>
    <p:extLst>
      <p:ext uri="{BB962C8B-B14F-4D97-AF65-F5344CB8AC3E}">
        <p14:creationId xmlns:p14="http://schemas.microsoft.com/office/powerpoint/2010/main" val="422362672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Custom</vt:lpstr>
      <vt:lpstr>BENCHMARK SPARKLE ON RISC-V SOFTCORE ARCHITECTURES</vt:lpstr>
      <vt:lpstr>Deliverables</vt:lpstr>
      <vt:lpstr>WHAT IS SPARKLE?​</vt:lpstr>
      <vt:lpstr>EXAMPLE OF AEAD + SPARKLE​</vt:lpstr>
      <vt:lpstr>WHY SPARKLE?</vt:lpstr>
      <vt:lpstr>SPARKLE CORE</vt:lpstr>
      <vt:lpstr>RISC-V SOFTCORE ARCHITECTURES​</vt:lpstr>
      <vt:lpstr>WHY THESE ARCHITECTURES?​ </vt:lpstr>
      <vt:lpstr>Results</vt:lpstr>
      <vt:lpstr>Results</vt:lpstr>
      <vt:lpstr>BENCHMARK RESULTS​</vt:lpstr>
      <vt:lpstr>Demo</vt:lpstr>
      <vt:lpstr>Problems encountered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Bhargava R. Malladi</dc:creator>
  <cp:revision>1</cp:revision>
  <dcterms:created xsi:type="dcterms:W3CDTF">2025-12-08T07:13:21Z</dcterms:created>
  <dcterms:modified xsi:type="dcterms:W3CDTF">2025-12-08T19:53:48Z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