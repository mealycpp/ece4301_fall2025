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Play"/>
      <p:regular r:id="rId12"/>
      <p:bold r:id="rId13"/>
    </p:embeddedFont>
    <p:embeddedFont>
      <p:font typeface="Average"/>
      <p:regular r:id="rId14"/>
    </p:embeddedFont>
    <p:embeddedFont>
      <p:font typeface="Oswal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Oswald-regular.fntdata"/><Relationship Id="rId14" Type="http://schemas.openxmlformats.org/officeDocument/2006/relationships/font" Target="fonts/Average-regular.fntdata"/><Relationship Id="rId16" Type="http://schemas.openxmlformats.org/officeDocument/2006/relationships/font" Target="fonts/Oswald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ea284655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aea284655b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ea38cbcc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aea38cbcc7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ea284655b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aea284655b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ea284655b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aea284655b_0_3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ea284655b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aea284655b_0_3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4" name="Google Shape;64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8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8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7" name="Google Shape;107;p21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/>
          <p:nvPr/>
        </p:nvSpPr>
        <p:spPr>
          <a:xfrm>
            <a:off x="0" y="0"/>
            <a:ext cx="9175800" cy="5143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 txBox="1"/>
          <p:nvPr>
            <p:ph type="ctrTitle"/>
          </p:nvPr>
        </p:nvSpPr>
        <p:spPr>
          <a:xfrm>
            <a:off x="874275" y="415000"/>
            <a:ext cx="6980400" cy="191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000">
                <a:solidFill>
                  <a:schemeClr val="lt1"/>
                </a:solidFill>
              </a:rPr>
              <a:t>PB‑FUSE NAS E2E using Raspberry Pi 5</a:t>
            </a:r>
            <a:endParaRPr sz="5000">
              <a:solidFill>
                <a:schemeClr val="lt1"/>
              </a:solidFill>
            </a:endParaRPr>
          </a:p>
        </p:txBody>
      </p:sp>
      <p:sp>
        <p:nvSpPr>
          <p:cNvPr id="136" name="Google Shape;136;p25"/>
          <p:cNvSpPr txBox="1"/>
          <p:nvPr>
            <p:ph idx="1" type="subTitle"/>
          </p:nvPr>
        </p:nvSpPr>
        <p:spPr>
          <a:xfrm>
            <a:off x="874275" y="3178875"/>
            <a:ext cx="6053700" cy="15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" sz="2400">
                <a:solidFill>
                  <a:schemeClr val="lt1"/>
                </a:solidFill>
              </a:rPr>
              <a:t>Manuel Alvarado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" sz="2400">
                <a:solidFill>
                  <a:schemeClr val="lt1"/>
                </a:solidFill>
              </a:rPr>
              <a:t>Caleb Jala-Guinto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" sz="2400">
                <a:solidFill>
                  <a:schemeClr val="lt1"/>
                </a:solidFill>
              </a:rPr>
              <a:t>Isabel Warth</a:t>
            </a:r>
            <a:endParaRPr sz="2400">
              <a:solidFill>
                <a:schemeClr val="lt1"/>
              </a:solidFill>
            </a:endParaRPr>
          </a:p>
        </p:txBody>
      </p:sp>
      <p:cxnSp>
        <p:nvCxnSpPr>
          <p:cNvPr id="137" name="Google Shape;137;p25"/>
          <p:cNvCxnSpPr/>
          <p:nvPr/>
        </p:nvCxnSpPr>
        <p:spPr>
          <a:xfrm>
            <a:off x="438964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25"/>
          <p:cNvCxnSpPr/>
          <p:nvPr/>
        </p:nvCxnSpPr>
        <p:spPr>
          <a:xfrm rot="10800000">
            <a:off x="0" y="4689364"/>
            <a:ext cx="9144000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71000" cy="5143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6"/>
          <p:cNvSpPr/>
          <p:nvPr/>
        </p:nvSpPr>
        <p:spPr>
          <a:xfrm>
            <a:off x="93600" y="94200"/>
            <a:ext cx="8956800" cy="49551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/>
          <p:cNvSpPr txBox="1"/>
          <p:nvPr>
            <p:ph type="title"/>
          </p:nvPr>
        </p:nvSpPr>
        <p:spPr>
          <a:xfrm>
            <a:off x="207500" y="420800"/>
            <a:ext cx="36330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</a:pPr>
            <a:r>
              <a:rPr lang="en">
                <a:solidFill>
                  <a:schemeClr val="lt1"/>
                </a:solidFill>
              </a:rPr>
              <a:t>Project Overview</a:t>
            </a:r>
            <a:endParaRPr/>
          </a:p>
        </p:txBody>
      </p:sp>
      <p:cxnSp>
        <p:nvCxnSpPr>
          <p:cNvPr id="146" name="Google Shape;146;p26"/>
          <p:cNvCxnSpPr/>
          <p:nvPr/>
        </p:nvCxnSpPr>
        <p:spPr>
          <a:xfrm flipH="1">
            <a:off x="127460" y="1519755"/>
            <a:ext cx="3882900" cy="270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238625" y="1684575"/>
            <a:ext cx="2930400" cy="3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55000"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A secure Ubuntu-based NAS server (running NFS), with a custom PB-FUSE filesystem on the Raspberry Pi 5.</a:t>
            </a:r>
            <a:endParaRPr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Uses a hashing pipeline with PhotonBeetle to identify, deduplicate, and store blocks, forming a complete end-to-end system that supports:</a:t>
            </a:r>
            <a:endParaRPr sz="2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28">
                <a:solidFill>
                  <a:schemeClr val="lt1"/>
                </a:solidFill>
              </a:rPr>
              <a:t>-File writes</a:t>
            </a:r>
            <a:endParaRPr sz="2528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28">
                <a:solidFill>
                  <a:schemeClr val="lt1"/>
                </a:solidFill>
              </a:rPr>
              <a:t>-File reads</a:t>
            </a:r>
            <a:endParaRPr sz="2528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28">
                <a:solidFill>
                  <a:schemeClr val="lt1"/>
                </a:solidFill>
              </a:rPr>
              <a:t>-Deduplication</a:t>
            </a:r>
            <a:endParaRPr sz="2528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28">
                <a:solidFill>
                  <a:schemeClr val="lt1"/>
                </a:solidFill>
              </a:rPr>
              <a:t>-Metadata tracking on the client side</a:t>
            </a:r>
            <a:endParaRPr sz="2528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28">
                <a:solidFill>
                  <a:schemeClr val="lt1"/>
                </a:solidFill>
              </a:rPr>
              <a:t>-Network-backed storage</a:t>
            </a:r>
            <a:endParaRPr sz="2528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318">
              <a:solidFill>
                <a:schemeClr val="lt1"/>
              </a:solidFill>
            </a:endParaRPr>
          </a:p>
        </p:txBody>
      </p:sp>
      <p:pic>
        <p:nvPicPr>
          <p:cNvPr id="148" name="Google Shape;14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5450" y="1774501"/>
            <a:ext cx="5676901" cy="29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/>
          <p:nvPr/>
        </p:nvSpPr>
        <p:spPr>
          <a:xfrm>
            <a:off x="0" y="0"/>
            <a:ext cx="9171000" cy="5143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7"/>
          <p:cNvSpPr/>
          <p:nvPr/>
        </p:nvSpPr>
        <p:spPr>
          <a:xfrm>
            <a:off x="93600" y="94200"/>
            <a:ext cx="8956800" cy="49551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7"/>
          <p:cNvSpPr txBox="1"/>
          <p:nvPr>
            <p:ph type="title"/>
          </p:nvPr>
        </p:nvSpPr>
        <p:spPr>
          <a:xfrm>
            <a:off x="207500" y="420800"/>
            <a:ext cx="36330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</a:pPr>
            <a:r>
              <a:rPr lang="en">
                <a:solidFill>
                  <a:schemeClr val="lt1"/>
                </a:solidFill>
              </a:rPr>
              <a:t>Project Overview</a:t>
            </a:r>
            <a:endParaRPr/>
          </a:p>
        </p:txBody>
      </p:sp>
      <p:cxnSp>
        <p:nvCxnSpPr>
          <p:cNvPr id="156" name="Google Shape;156;p27"/>
          <p:cNvCxnSpPr/>
          <p:nvPr/>
        </p:nvCxnSpPr>
        <p:spPr>
          <a:xfrm flipH="1">
            <a:off x="127460" y="1519755"/>
            <a:ext cx="3882900" cy="270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238625" y="1684575"/>
            <a:ext cx="8439000" cy="3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92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278">
                <a:solidFill>
                  <a:schemeClr val="lt1"/>
                </a:solidFill>
              </a:rPr>
              <a:t>A Virtual NAS with Enhanced Content-Aware Storage:</a:t>
            </a:r>
            <a:endParaRPr sz="2278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92">
                <a:solidFill>
                  <a:schemeClr val="lt1"/>
                </a:solidFill>
              </a:rPr>
              <a:t>Our project implements a network-attached storage system that behaves like a normal NAS but stores files in a deduplicated, block-based, encrypted form.</a:t>
            </a:r>
            <a:endParaRPr sz="1992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92">
                <a:solidFill>
                  <a:schemeClr val="lt1"/>
                </a:solidFill>
              </a:rPr>
              <a:t>The Raspberry Pi–based PB-FUSE filesystem breaks files into chunks, encrypts them with a modified PhotonBeetle, and stores only unique blocks. Improvements over standard PhotonBeetle include:</a:t>
            </a:r>
            <a:endParaRPr sz="1992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92">
                <a:solidFill>
                  <a:schemeClr val="lt1"/>
                </a:solidFill>
              </a:rPr>
              <a:t>- </a:t>
            </a:r>
            <a:r>
              <a:rPr lang="en" sz="1992">
                <a:solidFill>
                  <a:schemeClr val="lt1"/>
                </a:solidFill>
              </a:rPr>
              <a:t>SIV mode for nonce-misuse resistance.</a:t>
            </a:r>
            <a:endParaRPr sz="1992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92">
                <a:solidFill>
                  <a:schemeClr val="lt1"/>
                </a:solidFill>
              </a:rPr>
              <a:t>- Dual-tag authentication for tamper/fault detection.</a:t>
            </a:r>
            <a:endParaRPr sz="1992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92">
                <a:solidFill>
                  <a:schemeClr val="lt1"/>
                </a:solidFill>
              </a:rPr>
              <a:t>- KeyID headers for early key mismatch rejection.</a:t>
            </a:r>
            <a:endParaRPr sz="1992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92">
                <a:solidFill>
                  <a:schemeClr val="lt1"/>
                </a:solidFill>
              </a:rPr>
              <a:t>- Optional Merkle-tree verification for integrity and rollback protection.</a:t>
            </a:r>
            <a:endParaRPr sz="1992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92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92">
                <a:solidFill>
                  <a:schemeClr val="lt1"/>
                </a:solidFill>
              </a:rPr>
              <a:t>All metadata and integrity checks are handled on the client, so the NAS only sees encrypted blocks. The result is a space-efficient, secure NAS that preserves deduplication while hardening PhotonBeetle against known vulnerabilities.</a:t>
            </a:r>
            <a:endParaRPr sz="1992">
              <a:solidFill>
                <a:schemeClr val="lt1"/>
              </a:solidFill>
            </a:endParaRPr>
          </a:p>
          <a:p>
            <a:pPr indent="-1016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88235"/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/>
          <p:nvPr/>
        </p:nvSpPr>
        <p:spPr>
          <a:xfrm>
            <a:off x="0" y="-75"/>
            <a:ext cx="9170400" cy="5143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8"/>
          <p:cNvSpPr/>
          <p:nvPr/>
        </p:nvSpPr>
        <p:spPr>
          <a:xfrm>
            <a:off x="93600" y="94200"/>
            <a:ext cx="8956800" cy="49551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8"/>
          <p:cNvSpPr txBox="1"/>
          <p:nvPr>
            <p:ph type="title"/>
          </p:nvPr>
        </p:nvSpPr>
        <p:spPr>
          <a:xfrm>
            <a:off x="265000" y="613450"/>
            <a:ext cx="47754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High-Level Architecture</a:t>
            </a:r>
            <a:endParaRPr sz="3600">
              <a:solidFill>
                <a:schemeClr val="lt1"/>
              </a:solidFill>
            </a:endParaRPr>
          </a:p>
        </p:txBody>
      </p:sp>
      <p:cxnSp>
        <p:nvCxnSpPr>
          <p:cNvPr id="165" name="Google Shape;165;p28"/>
          <p:cNvCxnSpPr/>
          <p:nvPr/>
        </p:nvCxnSpPr>
        <p:spPr>
          <a:xfrm rot="10800000">
            <a:off x="94760" y="1519755"/>
            <a:ext cx="3915600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265000" y="1649075"/>
            <a:ext cx="8651100" cy="3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850">
                <a:solidFill>
                  <a:schemeClr val="lt2"/>
                </a:solidFill>
              </a:rPr>
              <a:t>+------------------------------------+	</a:t>
            </a:r>
            <a:r>
              <a:rPr b="1" lang="en" sz="850">
                <a:solidFill>
                  <a:schemeClr val="lt2"/>
                </a:solidFill>
              </a:rPr>
              <a:t>	</a:t>
            </a:r>
            <a:r>
              <a:rPr b="1" lang="en" sz="850">
                <a:solidFill>
                  <a:schemeClr val="lt2"/>
                </a:solidFill>
              </a:rPr>
              <a:t>+------------------------------------+	+------------------------------------+	+------------------------------------+</a:t>
            </a:r>
            <a:endParaRPr b="1" sz="8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850">
                <a:solidFill>
                  <a:schemeClr val="lt2"/>
                </a:solidFill>
              </a:rPr>
              <a:t>|   User Clients (Windows)</a:t>
            </a:r>
            <a:r>
              <a:rPr b="1" lang="en" sz="850">
                <a:solidFill>
                  <a:schemeClr val="lt2"/>
                </a:solidFill>
              </a:rPr>
              <a:t>	</a:t>
            </a:r>
            <a:r>
              <a:rPr b="1" lang="en" sz="850">
                <a:solidFill>
                  <a:schemeClr val="lt2"/>
                </a:solidFill>
              </a:rPr>
              <a:t>|	→	|   PB-FUSE Client / VM</a:t>
            </a:r>
            <a:r>
              <a:rPr b="1" lang="en" sz="850">
                <a:solidFill>
                  <a:schemeClr val="lt2"/>
                </a:solidFill>
              </a:rPr>
              <a:t>	</a:t>
            </a:r>
            <a:r>
              <a:rPr b="1" lang="en" sz="850">
                <a:solidFill>
                  <a:schemeClr val="lt2"/>
                </a:solidFill>
              </a:rPr>
              <a:t>|      →	|    Metadata DB	       	|      →	|      TrueNAS Storage	|</a:t>
            </a:r>
            <a:endParaRPr b="1" sz="8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850">
                <a:solidFill>
                  <a:schemeClr val="lt2"/>
                </a:solidFill>
              </a:rPr>
              <a:t>| - Access NAS via SMB</a:t>
            </a:r>
            <a:r>
              <a:rPr b="1" lang="en" sz="850">
                <a:solidFill>
                  <a:schemeClr val="lt2"/>
                </a:solidFill>
              </a:rPr>
              <a:t> 	</a:t>
            </a:r>
            <a:r>
              <a:rPr b="1" lang="en" sz="850">
                <a:solidFill>
                  <a:schemeClr val="lt2"/>
                </a:solidFill>
              </a:rPr>
              <a:t>|		| - Handles PB-FUSE ops 	|	| - Block index tables	|	| - ZFS-backed dataset	|</a:t>
            </a:r>
            <a:endParaRPr b="1" sz="8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850">
                <a:solidFill>
                  <a:schemeClr val="lt2"/>
                </a:solidFill>
              </a:rPr>
              <a:t>| - Can mount PB-FUSE FS	|		| - Parses file operations</a:t>
            </a:r>
            <a:r>
              <a:rPr b="1" lang="en" sz="850">
                <a:solidFill>
                  <a:schemeClr val="lt2"/>
                </a:solidFill>
              </a:rPr>
              <a:t>	</a:t>
            </a:r>
            <a:r>
              <a:rPr b="1" lang="en" sz="850">
                <a:solidFill>
                  <a:schemeClr val="lt2"/>
                </a:solidFill>
              </a:rPr>
              <a:t>|	| - File → block mapping	|	| - Stores actual files	|</a:t>
            </a:r>
            <a:endParaRPr b="1" sz="8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850">
                <a:solidFill>
                  <a:schemeClr val="lt2"/>
                </a:solidFill>
              </a:rPr>
              <a:t>| - </a:t>
            </a:r>
            <a:r>
              <a:rPr b="1" lang="en" sz="750">
                <a:solidFill>
                  <a:schemeClr val="lt2"/>
                </a:solidFill>
              </a:rPr>
              <a:t>Send read/write requests	</a:t>
            </a:r>
            <a:r>
              <a:rPr b="1" lang="en" sz="850">
                <a:solidFill>
                  <a:schemeClr val="lt2"/>
                </a:solidFill>
              </a:rPr>
              <a:t>|		| - Communicates w/ Redis	|	| - Validates access/locks	|	| - Redundant snapshots	|</a:t>
            </a:r>
            <a:endParaRPr b="1" sz="8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850">
                <a:solidFill>
                  <a:schemeClr val="lt2"/>
                </a:solidFill>
              </a:rPr>
              <a:t>+------------------------------------+		+------------------------------------+	+------------------------------------+	+------------------------------------+</a:t>
            </a:r>
            <a:endParaRPr b="1" sz="8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850">
                <a:solidFill>
                  <a:schemeClr val="lt2"/>
                </a:solidFill>
              </a:rPr>
              <a:t>         					|                                   		|                                   		|</a:t>
            </a:r>
            <a:endParaRPr b="1" sz="8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850">
                <a:solidFill>
                  <a:schemeClr val="lt2"/>
                </a:solidFill>
              </a:rPr>
              <a:t>             					|1. File ops → metadata lookups    	| 2. Block existence check           	| 3. Block read/write to dataset</a:t>
            </a:r>
            <a:endParaRPr b="1" sz="8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850">
                <a:solidFill>
                  <a:schemeClr val="lt2"/>
                </a:solidFill>
              </a:rPr>
              <a:t>                				|                                   		|                                   		|</a:t>
            </a:r>
            <a:endParaRPr b="1" sz="8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850">
                <a:solidFill>
                  <a:schemeClr val="lt2"/>
                </a:solidFill>
              </a:rPr>
              <a:t>        					v                                   		v                                   		v</a:t>
            </a:r>
            <a:endParaRPr b="1" sz="8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850">
                <a:solidFill>
                  <a:schemeClr val="lt2"/>
                </a:solidFill>
              </a:rPr>
              <a:t>           					(PhotonBeetle optional)          	(AUTH + </a:t>
            </a:r>
            <a:r>
              <a:rPr b="1" lang="en" sz="750">
                <a:solidFill>
                  <a:schemeClr val="lt2"/>
                </a:solidFill>
              </a:rPr>
              <a:t>protected-mode enabled</a:t>
            </a:r>
            <a:r>
              <a:rPr b="1" lang="en" sz="850">
                <a:solidFill>
                  <a:schemeClr val="lt2"/>
                </a:solidFill>
              </a:rPr>
              <a:t>)	(SMB/NFS backend I/O)</a:t>
            </a:r>
            <a:endParaRPr b="1" sz="8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lt2"/>
                </a:solidFill>
              </a:rPr>
              <a:t>Data Flow Summary:</a:t>
            </a:r>
            <a:endParaRPr b="1" sz="950">
              <a:solidFill>
                <a:schemeClr val="lt2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chemeClr val="lt2"/>
              </a:solidFill>
            </a:endParaRPr>
          </a:p>
          <a:p>
            <a:pPr indent="-2825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50"/>
              <a:buAutoNum type="arabicPeriod"/>
            </a:pPr>
            <a:r>
              <a:rPr b="1" lang="en" sz="950">
                <a:solidFill>
                  <a:schemeClr val="lt2"/>
                </a:solidFill>
              </a:rPr>
              <a:t>User interacts with the FUSE mount on the Raspberry Pi.</a:t>
            </a:r>
            <a:endParaRPr b="1" sz="950">
              <a:solidFill>
                <a:schemeClr val="lt2"/>
              </a:solidFill>
            </a:endParaRPr>
          </a:p>
          <a:p>
            <a:pPr indent="-2825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50"/>
              <a:buAutoNum type="arabicPeriod"/>
            </a:pPr>
            <a:r>
              <a:rPr b="1" lang="en" sz="950">
                <a:solidFill>
                  <a:schemeClr val="lt2"/>
                </a:solidFill>
              </a:rPr>
              <a:t>PB-FUSE splits files into blocks and hashes each block using PhotonBeetle.</a:t>
            </a:r>
            <a:endParaRPr b="1" sz="950">
              <a:solidFill>
                <a:schemeClr val="lt2"/>
              </a:solidFill>
            </a:endParaRPr>
          </a:p>
          <a:p>
            <a:pPr indent="-2825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50"/>
              <a:buAutoNum type="arabicPeriod"/>
            </a:pPr>
            <a:r>
              <a:rPr b="1" lang="en" sz="950">
                <a:solidFill>
                  <a:schemeClr val="lt2"/>
                </a:solidFill>
              </a:rPr>
              <a:t>PB-FUSE checks its local metadata to see if the block already exists.</a:t>
            </a:r>
            <a:endParaRPr b="1" sz="950">
              <a:solidFill>
                <a:schemeClr val="lt2"/>
              </a:solidFill>
            </a:endParaRPr>
          </a:p>
          <a:p>
            <a:pPr indent="-2825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50"/>
              <a:buAutoNum type="arabicPeriod"/>
            </a:pPr>
            <a:r>
              <a:rPr b="1" lang="en" sz="950">
                <a:solidFill>
                  <a:schemeClr val="lt2"/>
                </a:solidFill>
              </a:rPr>
              <a:t>If the block is new: it is stored on the VM NAS.</a:t>
            </a:r>
            <a:endParaRPr b="1" sz="950">
              <a:solidFill>
                <a:schemeClr val="lt2"/>
              </a:solidFill>
            </a:endParaRPr>
          </a:p>
          <a:p>
            <a:pPr indent="-2825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50"/>
              <a:buAutoNum type="arabicPeriod"/>
            </a:pPr>
            <a:r>
              <a:rPr b="1" lang="en" sz="950">
                <a:solidFill>
                  <a:schemeClr val="lt2"/>
                </a:solidFill>
              </a:rPr>
              <a:t>If the block is a duplicate: PB-FUSE re-uses the existing block.</a:t>
            </a:r>
            <a:endParaRPr b="1" sz="950">
              <a:solidFill>
                <a:schemeClr val="lt2"/>
              </a:solidFill>
            </a:endParaRPr>
          </a:p>
          <a:p>
            <a:pPr indent="-2825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50"/>
              <a:buAutoNum type="arabicPeriod"/>
            </a:pPr>
            <a:r>
              <a:rPr b="1" lang="en" sz="950">
                <a:solidFill>
                  <a:schemeClr val="lt2"/>
                </a:solidFill>
              </a:rPr>
              <a:t>Local metadata on the Pi is updated to map files to their constituent blocks.</a:t>
            </a:r>
            <a:endParaRPr b="1" sz="950">
              <a:solidFill>
                <a:schemeClr val="lt2"/>
              </a:solidFill>
            </a:endParaRPr>
          </a:p>
          <a:p>
            <a:pPr indent="-2825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50"/>
              <a:buAutoNum type="arabicPeriod"/>
            </a:pPr>
            <a:r>
              <a:rPr b="1" lang="en" sz="950">
                <a:solidFill>
                  <a:schemeClr val="lt2"/>
                </a:solidFill>
              </a:rPr>
              <a:t>For reads: PB-FUSE consults the local metadata → retrieves blocks from the NAS → reconstructs the file.</a:t>
            </a:r>
            <a:endParaRPr b="1" sz="95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/>
          <p:nvPr/>
        </p:nvSpPr>
        <p:spPr>
          <a:xfrm>
            <a:off x="0" y="-75"/>
            <a:ext cx="9170400" cy="5143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9"/>
          <p:cNvSpPr/>
          <p:nvPr/>
        </p:nvSpPr>
        <p:spPr>
          <a:xfrm>
            <a:off x="93600" y="94200"/>
            <a:ext cx="8956800" cy="49551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9"/>
          <p:cNvSpPr txBox="1"/>
          <p:nvPr>
            <p:ph type="title"/>
          </p:nvPr>
        </p:nvSpPr>
        <p:spPr>
          <a:xfrm>
            <a:off x="280425" y="613450"/>
            <a:ext cx="36486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Conclusion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74" name="Google Shape;174;p29"/>
          <p:cNvCxnSpPr/>
          <p:nvPr/>
        </p:nvCxnSpPr>
        <p:spPr>
          <a:xfrm rot="10800000">
            <a:off x="94760" y="1519755"/>
            <a:ext cx="3915600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364950" y="1709375"/>
            <a:ext cx="8440500" cy="3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lt2"/>
                </a:solidFill>
              </a:rPr>
              <a:t>✔ A working content-addressed filesystem</a:t>
            </a:r>
            <a:endParaRPr b="1" sz="13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lt2"/>
                </a:solidFill>
              </a:rPr>
              <a:t>✔ Using PhotonBeetle hashing</a:t>
            </a:r>
            <a:endParaRPr b="1" sz="13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lt2"/>
                </a:solidFill>
              </a:rPr>
              <a:t>✔ Backed by a functional Ubuntu NAS</a:t>
            </a:r>
            <a:endParaRPr b="1" sz="13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lt2"/>
                </a:solidFill>
              </a:rPr>
              <a:t>✔ Metadata tracked locally on the Pi for file → block mapping</a:t>
            </a:r>
            <a:endParaRPr b="1" sz="13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lt2"/>
                </a:solidFill>
              </a:rPr>
              <a:t>✔ Supports deduplication and file reconstruction</a:t>
            </a:r>
            <a:endParaRPr b="1" sz="13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15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